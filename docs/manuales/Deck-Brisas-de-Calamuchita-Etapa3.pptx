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C97B5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C97B5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3D5B3C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3D5B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143000" y="502920"/>
            <a:ext cx="201168" cy="201168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Brisas de Calamuchita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841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reservas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548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  ·   AVANCE DEL PROYECTO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Hospitalidad serrana,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 </a:t>
            </a:r>
            <a:pPr indent="0" marL="0">
              <a:buNone/>
            </a:pPr>
            <a:r>
              <a:rPr lang="en-US" sz="6000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respira.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solución digital que reemplaza el caos de WhatsApp y papelitos por un sistema serio,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 y profesional para gestionar reservas de la propiedad.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199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 de avance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5528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Kalas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IFTS N°29  ·  Tec. Sup. Desarrollo de Software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ESTÁ DETRÁS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equipo </a:t>
            </a:r>
            <a:pPr indent="0" marL="0">
              <a:buNone/>
            </a:pPr>
            <a:r>
              <a:rPr lang="en-US" sz="3800" i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enfocado</a:t>
            </a:r>
            <a:pPr indent="0" marL="0">
              <a:buNone/>
            </a:pPr>
            <a:r>
              <a:rPr lang="en-US" sz="38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 resolver tu problema.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029200" cy="3474720"/>
          </a:xfrm>
          <a:prstGeom prst="roundRect">
            <a:avLst>
              <a:gd name="adj" fmla="val 6579"/>
            </a:avLst>
          </a:prstGeom>
          <a:solidFill>
            <a:srgbClr val="E2EBD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51760"/>
            <a:ext cx="1097280" cy="1097280"/>
          </a:xfrm>
          <a:prstGeom prst="ellipse">
            <a:avLst/>
          </a:prstGeom>
          <a:solidFill>
            <a:srgbClr val="3D5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9456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Jorge Kalas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9456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· Analista · Diseñador · Desarrollador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avanzado de la Tecnicatura en Desarrollo de Software (IFTS N°29).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10 años de experiencia previa en gestión de proyectos y producto. Aporta visión integral del negocio + capacidad técnica para construir la solución de punta a punta.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377440"/>
            <a:ext cx="5577840" cy="3474720"/>
          </a:xfrm>
          <a:prstGeom prst="roundRect">
            <a:avLst>
              <a:gd name="adj" fmla="val 6579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Kalas Software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0" y="35661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Desarrollamos software a medida para emprendimientos turísticos que quieren digitalizar su operación sin perder la calidez en el trato con sus huéspedes.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4617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vendemos plantillas. Cada sistema lo pensamos junto al cliente, entendiendo cómo trabaja y cuáles son sus prioridades.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54864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2EBD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5486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cercana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92440" y="54864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2EBDE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5486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el negocio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784080" y="54864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2EBDE"/>
          </a:solidFill>
          <a:ln/>
        </p:spPr>
      </p:sp>
      <p:sp>
        <p:nvSpPr>
          <p:cNvPr id="20" name="Text 18"/>
          <p:cNvSpPr/>
          <p:nvPr/>
        </p:nvSpPr>
        <p:spPr>
          <a:xfrm>
            <a:off x="9784080" y="5486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visibles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propiedad en </a:t>
            </a:r>
            <a:pPr indent="0" marL="0">
              <a:buNone/>
            </a:pPr>
            <a:r>
              <a:rPr lang="en-US" sz="3600" i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Calamuchita,</a:t>
            </a:r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ahora con su propio sistema.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 es una casa serrana de alquiler turístico ubicada en Santa Rosa. Hoy gestiona sus reservas a través de WhatsApp y notas en papel, con todos los problemas que eso genera: confusiones, dobles reservas, falta de seguimiento.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un sistema web propio que mantiene la calidez de tu trato personal —vos seguís confirmando cada reserva con un mensaje— pero suma la prolijidad y la confianza de una plataforma profesional.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0" y="1005840"/>
            <a:ext cx="4114800" cy="1417320"/>
          </a:xfrm>
          <a:prstGeom prst="roundRect">
            <a:avLst>
              <a:gd name="adj" fmla="val 12903"/>
            </a:avLst>
          </a:prstGeom>
          <a:solidFill>
            <a:srgbClr val="E2EBD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0515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4–10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49808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HUÉSPEDES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0" y="2606040"/>
            <a:ext cx="4114800" cy="1417320"/>
          </a:xfrm>
          <a:prstGeom prst="roundRect">
            <a:avLst>
              <a:gd name="adj" fmla="val 12903"/>
            </a:avLst>
          </a:prstGeom>
          <a:solidFill>
            <a:srgbClr val="F5E7DD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26974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B2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cuadras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49808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RÍO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0" y="4206240"/>
            <a:ext cx="4114800" cy="1417320"/>
          </a:xfrm>
          <a:prstGeom prst="roundRect">
            <a:avLst>
              <a:gd name="adj" fmla="val 12903"/>
            </a:avLst>
          </a:prstGeom>
          <a:solidFill>
            <a:srgbClr val="293A2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42976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7498080" y="5074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FB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TU CALENDARIO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Hoy gestionar reservas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</a:t>
            </a:r>
            <a:endParaRPr lang="en-US" sz="4000" dirty="0"/>
          </a:p>
          <a:p>
            <a:pPr indent="0" marL="0">
              <a:buNone/>
            </a:pPr>
            <a:r>
              <a:rPr lang="en-US" sz="4000" i="1" dirty="0">
                <a:solidFill>
                  <a:srgbClr val="B2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desorden</a:t>
            </a:r>
            <a:pPr indent="0" marL="0">
              <a:buNone/>
            </a:pPr>
            <a:r>
              <a:rPr lang="en-US" sz="40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394960" cy="1508760"/>
          </a:xfrm>
          <a:prstGeom prst="roundRect">
            <a:avLst>
              <a:gd name="adj" fmla="val 12121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17520"/>
            <a:ext cx="640080" cy="640080"/>
          </a:xfrm>
          <a:prstGeom prst="ellipse">
            <a:avLst/>
          </a:prstGeom>
          <a:solidFill>
            <a:srgbClr val="F5E7D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2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3035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Reservas duplicadas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34564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huéspedes para las mismas fechas. Tener que avisarle a alguien que su reserva no existía.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743200"/>
            <a:ext cx="5394960" cy="1508760"/>
          </a:xfrm>
          <a:prstGeom prst="roundRect">
            <a:avLst>
              <a:gd name="adj" fmla="val 12121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3017520"/>
            <a:ext cx="640080" cy="640080"/>
          </a:xfrm>
          <a:prstGeom prst="ellipse">
            <a:avLst/>
          </a:prstGeom>
          <a:solidFill>
            <a:srgbClr val="F5E7D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2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60920" y="3035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trazabilidad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0920" y="34564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queda registro de qué se prometió a quién, cuándo, ni en qué condiciones.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5394960" cy="1508760"/>
          </a:xfrm>
          <a:prstGeom prst="roundRect">
            <a:avLst>
              <a:gd name="adj" fmla="val 12121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709160"/>
            <a:ext cx="640080" cy="640080"/>
          </a:xfrm>
          <a:prstGeom prst="ellipse">
            <a:avLst/>
          </a:prstGeom>
          <a:solidFill>
            <a:srgbClr val="F5E7D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2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⌛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4727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Tiempo perdido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51480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atendiendo consultas repetidas que un calendario público resolvería en un segundo.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394960" cy="1508760"/>
          </a:xfrm>
          <a:prstGeom prst="roundRect">
            <a:avLst>
              <a:gd name="adj" fmla="val 12121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709160"/>
            <a:ext cx="640080" cy="640080"/>
          </a:xfrm>
          <a:prstGeom prst="ellipse">
            <a:avLst/>
          </a:prstGeom>
          <a:solidFill>
            <a:srgbClr val="F5E7DD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2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60920" y="4727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 imagen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0920" y="51480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propiedad seria que se gestiona por WhatsApp transmite informalidad al cliente.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3D5B3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C97B5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sistema híbrido:
</a:t>
            </a:r>
            <a:pPr indent="0" marL="0">
              <a:buNone/>
            </a:pPr>
            <a:r>
              <a:rPr lang="en-US" sz="3600" i="1" dirty="0">
                <a:solidFill>
                  <a:srgbClr val="C6D7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mejor de lo digital y de lo humano.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5394960" cy="2926080"/>
          </a:xfrm>
          <a:prstGeom prst="roundRect">
            <a:avLst>
              <a:gd name="adj" fmla="val 7813"/>
            </a:avLst>
          </a:prstGeom>
          <a:solidFill>
            <a:srgbClr val="3D5B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DIGITAL HACE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trabajo repetitivo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Mostrar la propiedad y atraer huéspedes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Calendario público actualizado al segundo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Recibir solicitudes 24/7 sin tu intervención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Bloquear fechas automáticamente por 2 horas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Enviar emails de confirmación automáticos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108960"/>
            <a:ext cx="5394960" cy="2926080"/>
          </a:xfrm>
          <a:prstGeom prst="roundRect">
            <a:avLst>
              <a:gd name="adj" fmla="val 7813"/>
            </a:avLst>
          </a:prstGeom>
          <a:solidFill>
            <a:srgbClr val="F5EFE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HACÉS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importa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42062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Recibir cada solicitud con su detalle completo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Hablar con el huésped por WhatsApp (1 click)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Confirmar manualmente solo lo que querés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Coordinar la seña con un mensaje personal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Mantener el trato cercano que te diferencia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miradas, </a:t>
            </a:r>
            <a:pPr indent="0" marL="0">
              <a:buNone/>
            </a:pPr>
            <a:r>
              <a:rPr lang="en-US" sz="3600" i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mismo sistema.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Diseñamos pensando en cada tipo de usuario y lo que necesita ver, sin más complicaciones.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200400" cy="3566160"/>
          </a:xfrm>
          <a:prstGeom prst="roundRect">
            <a:avLst>
              <a:gd name="adj" fmla="val 6286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2880360"/>
            <a:ext cx="914400" cy="914400"/>
          </a:xfrm>
          <a:prstGeom prst="ellipse">
            <a:avLst/>
          </a:prstGeom>
          <a:solidFill>
            <a:srgbClr val="F5E7DD"/>
          </a:solidFill>
          <a:ln/>
        </p:spPr>
      </p:sp>
      <p:sp>
        <p:nvSpPr>
          <p:cNvPr id="7" name="Text 5"/>
          <p:cNvSpPr/>
          <p:nvPr/>
        </p:nvSpPr>
        <p:spPr>
          <a:xfrm>
            <a:off x="178308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Visitante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buscando un lugar para escaparse. Quiere ver fotos, ubicación y disponibilidad rápido.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5440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 registro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56967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Información clara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59527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Calendario público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606040"/>
            <a:ext cx="3200400" cy="3566160"/>
          </a:xfrm>
          <a:prstGeom prst="roundRect">
            <a:avLst>
              <a:gd name="adj" fmla="val 6286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2880360"/>
            <a:ext cx="914400" cy="914400"/>
          </a:xfrm>
          <a:prstGeom prst="ellipse">
            <a:avLst/>
          </a:prstGeom>
          <a:solidFill>
            <a:srgbClr val="E2EBDE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decidió. Solo quiere solicitar las fechas, agregar detalles y recibir confirmación.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5440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Registrado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56967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Mis reservas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59527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Notificaciones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03920" y="2606040"/>
            <a:ext cx="3200400" cy="3566160"/>
          </a:xfrm>
          <a:prstGeom prst="roundRect">
            <a:avLst>
              <a:gd name="adj" fmla="val 6286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46920" y="2880360"/>
            <a:ext cx="914400" cy="914400"/>
          </a:xfrm>
          <a:prstGeom prst="ellipse">
            <a:avLst/>
          </a:prstGeom>
          <a:solidFill>
            <a:srgbClr val="E2EBDE"/>
          </a:solidFill>
          <a:ln/>
        </p:spPr>
      </p:sp>
      <p:sp>
        <p:nvSpPr>
          <p:cNvPr id="23" name="Text 21"/>
          <p:cNvSpPr/>
          <p:nvPr/>
        </p:nvSpPr>
        <p:spPr>
          <a:xfrm>
            <a:off x="964692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50392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Administrador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778240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Vos. Gestionás el negocio entero desde un panel claro, con control total y datos en vivo.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0" y="5440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Panel interno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0" y="56967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WhatsApp directo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8240" y="59527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Estadísticas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Tecnologías </a:t>
            </a:r>
            <a:pPr indent="0" marL="0">
              <a:buNone/>
            </a:pPr>
            <a:r>
              <a:rPr lang="en-US" sz="3600" i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modernas</a:t>
            </a:r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preparadas para crecer.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vamos a aburrir con nombres técnicos. Lo importante: usamos las mismas herramientas que empresas grandes como Netflix, Airbnb o Mercado Libre. Eso significa que tu sistema es seguro, rápido, y va a poder evolucionar con el tiempo.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2606040" cy="2743200"/>
          </a:xfrm>
          <a:prstGeom prst="roundRect">
            <a:avLst>
              <a:gd name="adj" fmla="val 7719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68780" y="3520440"/>
            <a:ext cx="548640" cy="548640"/>
          </a:xfrm>
          <a:prstGeom prst="ellipse">
            <a:avLst/>
          </a:prstGeom>
          <a:solidFill>
            <a:srgbClr val="E2EBDE"/>
          </a:solidFill>
          <a:ln/>
        </p:spPr>
      </p:sp>
      <p:sp>
        <p:nvSpPr>
          <p:cNvPr id="7" name="Text 5"/>
          <p:cNvSpPr/>
          <p:nvPr/>
        </p:nvSpPr>
        <p:spPr>
          <a:xfrm>
            <a:off x="16687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Rápido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709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en menos de 2 segundos en cualquier dispositivo.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200400"/>
            <a:ext cx="2606040" cy="2743200"/>
          </a:xfrm>
          <a:prstGeom prst="roundRect">
            <a:avLst>
              <a:gd name="adj" fmla="val 7719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7700" y="3520440"/>
            <a:ext cx="548640" cy="548640"/>
          </a:xfrm>
          <a:prstGeom prst="ellipse">
            <a:avLst/>
          </a:prstGeom>
          <a:solidFill>
            <a:srgbClr val="E2EBDE"/>
          </a:solidFill>
          <a:ln/>
        </p:spPr>
      </p:sp>
      <p:sp>
        <p:nvSpPr>
          <p:cNvPr id="12" name="Text 10"/>
          <p:cNvSpPr/>
          <p:nvPr/>
        </p:nvSpPr>
        <p:spPr>
          <a:xfrm>
            <a:off x="44577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4206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4709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encriptados. Cumplimos buenas prácticas de la industria.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2606040" cy="2743200"/>
          </a:xfrm>
          <a:prstGeom prst="roundRect">
            <a:avLst>
              <a:gd name="adj" fmla="val 7719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46620" y="3520440"/>
            <a:ext cx="548640" cy="548640"/>
          </a:xfrm>
          <a:prstGeom prst="ellipse">
            <a:avLst/>
          </a:prstGeom>
          <a:solidFill>
            <a:srgbClr val="E2EBDE"/>
          </a:solidFill>
          <a:ln/>
        </p:spPr>
      </p:sp>
      <p:sp>
        <p:nvSpPr>
          <p:cNvPr id="17" name="Text 15"/>
          <p:cNvSpPr/>
          <p:nvPr/>
        </p:nvSpPr>
        <p:spPr>
          <a:xfrm>
            <a:off x="724662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4206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Escalable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4709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mañana sumás más propiedades, el sistema crece con vos.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3200400"/>
            <a:ext cx="2606040" cy="2743200"/>
          </a:xfrm>
          <a:prstGeom prst="roundRect">
            <a:avLst>
              <a:gd name="adj" fmla="val 7719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35540" y="3520440"/>
            <a:ext cx="548640" cy="548640"/>
          </a:xfrm>
          <a:prstGeom prst="ellipse">
            <a:avLst/>
          </a:prstGeom>
          <a:solidFill>
            <a:srgbClr val="E2EBDE"/>
          </a:solidFill>
          <a:ln/>
        </p:spPr>
      </p:sp>
      <p:sp>
        <p:nvSpPr>
          <p:cNvPr id="22" name="Text 20"/>
          <p:cNvSpPr/>
          <p:nvPr/>
        </p:nvSpPr>
        <p:spPr>
          <a:xfrm>
            <a:off x="100355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06840" y="4206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Mantenible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35440" y="4709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limpio y documentado. Fácil de actualizar.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React · Node.js · MySQL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ALCANZADOS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 ya está </a:t>
            </a:r>
            <a:pPr indent="0" marL="0">
              <a:buNone/>
            </a:pPr>
            <a:r>
              <a:rPr lang="en-US" sz="3600" i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hecho.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9601200" cy="0"/>
          </a:xfrm>
          <a:prstGeom prst="line">
            <a:avLst/>
          </a:prstGeom>
          <a:noFill/>
          <a:ln w="38100">
            <a:solidFill>
              <a:srgbClr val="ECE1C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737360" y="3429000"/>
            <a:ext cx="457200" cy="457200"/>
          </a:xfrm>
          <a:prstGeom prst="ellipse">
            <a:avLst/>
          </a:prstGeom>
          <a:solidFill>
            <a:srgbClr val="3D5B3C"/>
          </a:solidFill>
          <a:ln w="25400">
            <a:solidFill>
              <a:srgbClr val="3D5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2103120" cy="1051560"/>
          </a:xfrm>
          <a:prstGeom prst="roundRect">
            <a:avLst>
              <a:gd name="adj" fmla="val 15652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del negocio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Entrevistas, problemática y alcance definidos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3429000"/>
            <a:ext cx="457200" cy="457200"/>
          </a:xfrm>
          <a:prstGeom prst="ellipse">
            <a:avLst/>
          </a:prstGeom>
          <a:solidFill>
            <a:srgbClr val="3D5B3C"/>
          </a:solidFill>
          <a:ln w="25400">
            <a:solidFill>
              <a:srgbClr val="3D5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4297680"/>
            <a:ext cx="2103120" cy="1051560"/>
          </a:xfrm>
          <a:prstGeom prst="roundRect">
            <a:avLst>
              <a:gd name="adj" fmla="val 15652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del sistema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4754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UML, base de datos, casos de uso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40880" y="3429000"/>
            <a:ext cx="457200" cy="457200"/>
          </a:xfrm>
          <a:prstGeom prst="ellipse">
            <a:avLst/>
          </a:prstGeom>
          <a:solidFill>
            <a:srgbClr val="3D5B3C"/>
          </a:solidFill>
          <a:ln w="25400">
            <a:solidFill>
              <a:srgbClr val="3D5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2103120" cy="1051560"/>
          </a:xfrm>
          <a:prstGeom prst="roundRect">
            <a:avLst>
              <a:gd name="adj" fmla="val 15652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Prototipo interactivo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navegable de las 8 pantallas principales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92640" y="3429000"/>
            <a:ext cx="457200" cy="457200"/>
          </a:xfrm>
          <a:prstGeom prst="ellipse">
            <a:avLst/>
          </a:prstGeom>
          <a:solidFill>
            <a:srgbClr val="F5E7DD"/>
          </a:solidFill>
          <a:ln w="25400">
            <a:solidFill>
              <a:srgbClr val="B25E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69680" y="4297680"/>
            <a:ext cx="2103120" cy="1051560"/>
          </a:xfrm>
          <a:prstGeom prst="roundRect">
            <a:avLst>
              <a:gd name="adj" fmla="val 15652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del proyecto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06840" y="4754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conectado, pruebas, deploy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5532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DE 4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20040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completadas. Estamos en el sprint final.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reserva </a:t>
            </a:r>
            <a:pPr indent="0" marL="0">
              <a:buNone/>
            </a:pPr>
            <a:r>
              <a:rPr lang="en-US" sz="3600" i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principio a fin.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011680" cy="2286000"/>
          </a:xfrm>
          <a:prstGeom prst="roundRect">
            <a:avLst>
              <a:gd name="adj" fmla="val 10000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697480"/>
            <a:ext cx="457200" cy="457200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visitante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fechas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3611880"/>
            <a:ext cx="182880" cy="0"/>
          </a:xfrm>
          <a:prstGeom prst="line">
            <a:avLst/>
          </a:prstGeom>
          <a:noFill/>
          <a:ln w="25400">
            <a:solidFill>
              <a:srgbClr val="ECE1C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2468880"/>
            <a:ext cx="2011680" cy="2286000"/>
          </a:xfrm>
          <a:prstGeom prst="roundRect">
            <a:avLst>
              <a:gd name="adj" fmla="val 10000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697480"/>
            <a:ext cx="457200" cy="457200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63240" y="3383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bloquean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2 horas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3611880"/>
            <a:ext cx="182880" cy="0"/>
          </a:xfrm>
          <a:prstGeom prst="line">
            <a:avLst/>
          </a:prstGeom>
          <a:noFill/>
          <a:ln w="25400">
            <a:solidFill>
              <a:srgbClr val="ECE1C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12080" y="2468880"/>
            <a:ext cx="2011680" cy="2286000"/>
          </a:xfrm>
          <a:prstGeom prst="roundRect">
            <a:avLst>
              <a:gd name="adj" fmla="val 10000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2697480"/>
            <a:ext cx="457200" cy="457200"/>
          </a:xfrm>
          <a:prstGeom prst="ellipse">
            <a:avLst/>
          </a:prstGeom>
          <a:solidFill>
            <a:srgbClr val="3D5B3C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49240" y="3383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recibís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solicitud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69480" y="3611880"/>
            <a:ext cx="182880" cy="0"/>
          </a:xfrm>
          <a:prstGeom prst="line">
            <a:avLst/>
          </a:prstGeom>
          <a:noFill/>
          <a:ln w="25400">
            <a:solidFill>
              <a:srgbClr val="ECE1C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0" y="2468880"/>
            <a:ext cx="2011680" cy="2286000"/>
          </a:xfrm>
          <a:prstGeom prst="roundRect">
            <a:avLst>
              <a:gd name="adj" fmla="val 10000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2697480"/>
            <a:ext cx="457200" cy="457200"/>
          </a:xfrm>
          <a:prstGeom prst="ellipse">
            <a:avLst/>
          </a:prstGeom>
          <a:solidFill>
            <a:srgbClr val="3D5B3C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35240" y="3383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escribís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WhatsApp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55480" y="3611880"/>
            <a:ext cx="182880" cy="0"/>
          </a:xfrm>
          <a:prstGeom prst="line">
            <a:avLst/>
          </a:prstGeom>
          <a:noFill/>
          <a:ln w="25400">
            <a:solidFill>
              <a:srgbClr val="ECE1C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84080" y="2468880"/>
            <a:ext cx="2011680" cy="2286000"/>
          </a:xfrm>
          <a:prstGeom prst="roundRect">
            <a:avLst>
              <a:gd name="adj" fmla="val 10000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61320" y="2697480"/>
            <a:ext cx="457200" cy="457200"/>
          </a:xfrm>
          <a:prstGeom prst="ellipse">
            <a:avLst/>
          </a:prstGeom>
          <a:solidFill>
            <a:srgbClr val="3D5B3C"/>
          </a:solidFill>
          <a:ln/>
        </p:spPr>
      </p:sp>
      <p:sp>
        <p:nvSpPr>
          <p:cNvPr id="26" name="Text 24"/>
          <p:cNvSpPr/>
          <p:nvPr/>
        </p:nvSpPr>
        <p:spPr>
          <a:xfrm>
            <a:off x="105613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21240" y="3383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Confirmás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todos felices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074920"/>
            <a:ext cx="10972800" cy="1097280"/>
          </a:xfrm>
          <a:prstGeom prst="roundRect">
            <a:avLst>
              <a:gd name="adj" fmla="val 16667"/>
            </a:avLst>
          </a:prstGeom>
          <a:solidFill>
            <a:srgbClr val="E2EBDE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2578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645920" y="5166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bloqueo automático de 2 horas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la fecha se pierda mientras coordinás con el cliente. Sin doble reserva. Sin estrés.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DEL SISTEMA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01.   </a:t>
            </a:r>
            <a:pPr indent="0" marL="0">
              <a:buNone/>
            </a:pPr>
            <a:r>
              <a:rPr lang="en-US" sz="3600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centro de control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7315200" cy="3931920"/>
          </a:xfrm>
          <a:prstGeom prst="roundRect">
            <a:avLst>
              <a:gd name="adj" fmla="val 3488"/>
            </a:avLst>
          </a:prstGeom>
          <a:solidFill>
            <a:srgbClr val="FDFBF6"/>
          </a:solidFill>
          <a:ln/>
        </p:spPr>
      </p:sp>
      <p:pic>
        <p:nvPicPr>
          <p:cNvPr id="5" name="Image 0" descr="/home/claude/screenshots/05-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377440"/>
            <a:ext cx="704088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lo importante</a:t>
            </a:r>
            <a:endParaRPr lang="en-US" sz="2200" dirty="0"/>
          </a:p>
          <a:p>
            <a:pPr indent="0" marL="0">
              <a:buNone/>
            </a:pPr>
            <a:r>
              <a:rPr lang="en-US" sz="22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una sola pantalla.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0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4108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en vivo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4108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pendientes, confirmadas, ingresos del año.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4343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41080" y="4343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directo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4108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click y arranca la conversación con el cliente.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0" y="5257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41080" y="5257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Confirmás con 1 botón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41080" y="5532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o rechaza cada solicitud según tu criterio.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DEL SISTEMA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02.   </a:t>
            </a:r>
            <a:pPr indent="0" marL="0">
              <a:buNone/>
            </a:pPr>
            <a:r>
              <a:rPr lang="en-US" sz="3600" i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el huésped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5EFE6"/>
          </a:solidFill>
          <a:ln/>
        </p:spPr>
      </p:sp>
      <p:pic>
        <p:nvPicPr>
          <p:cNvPr id="5" name="Image 0" descr="/home/claude/screenshots/03-calenda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286000"/>
            <a:ext cx="52120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3276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disponibilidad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355080" y="219456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F5EFE6"/>
          </a:solidFill>
          <a:ln/>
        </p:spPr>
      </p:sp>
      <p:pic>
        <p:nvPicPr>
          <p:cNvPr id="8" name="Image 1" descr="/home/claude/screenshots/04-log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2286000"/>
            <a:ext cx="5212080" cy="384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632764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simple y claro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DEL SISTEMA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03.   </a:t>
            </a:r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negocio, </a:t>
            </a:r>
            <a:pPr indent="0" marL="0">
              <a:buNone/>
            </a:pPr>
            <a:r>
              <a:rPr lang="en-US" sz="3600" i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números.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2103120"/>
            <a:ext cx="7955280" cy="4206240"/>
          </a:xfrm>
          <a:prstGeom prst="roundRect">
            <a:avLst>
              <a:gd name="adj" fmla="val 3913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pic>
        <p:nvPicPr>
          <p:cNvPr id="5" name="Image 0" descr="/home/claude/screenshots/06-grafi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49040" y="2194560"/>
            <a:ext cx="777240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Decisiones con
</a:t>
            </a:r>
            <a:pPr indent="0" marL="0">
              <a:buNone/>
            </a:pPr>
            <a:r>
              <a:rPr lang="en-US" sz="2800" b="1" i="1" dirty="0">
                <a:solidFill>
                  <a:srgbClr val="B2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reales.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Sabés cuánto facturaste cada mes, cuál fue tu mejor temporada y cómo evolucionó el año.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51206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para presentar al contador, planificar el próximo año o saber cuándo subir tarifas.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viene en las
</a:t>
            </a:r>
            <a:pPr indent="0" marL="0">
              <a:buNone/>
            </a:pPr>
            <a:r>
              <a:rPr lang="en-US" sz="3600" i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próximas semanas.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606040" cy="3383280"/>
          </a:xfrm>
          <a:prstGeom prst="roundRect">
            <a:avLst>
              <a:gd name="adj" fmla="val 7719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conectado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el frontend (lo que ya viste) con la base de datos real para que las reservas se guarden de verdad.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56235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5E7D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623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 semanas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2743200"/>
            <a:ext cx="2606040" cy="3383280"/>
          </a:xfrm>
          <a:prstGeom prst="roundRect">
            <a:avLst>
              <a:gd name="adj" fmla="val 7719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 exhaustivas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4114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cada flujo: registro, reserva, confirmación, cancelación, notificaciones por email.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56235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5E7DD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5623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 semana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2606040" cy="3383280"/>
          </a:xfrm>
          <a:prstGeom prst="roundRect">
            <a:avLst>
              <a:gd name="adj" fmla="val 7719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Puesta en producción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114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sistema a internet con dominio propio. SSL, copias de seguridad, monitoreo.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56235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5E7DD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5623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 semana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06840" y="2743200"/>
            <a:ext cx="2606040" cy="3383280"/>
          </a:xfrm>
          <a:prstGeom prst="roundRect">
            <a:avLst>
              <a:gd name="adj" fmla="val 7719"/>
            </a:avLst>
          </a:prstGeom>
          <a:solidFill>
            <a:srgbClr val="FDFBF6"/>
          </a:solidFill>
          <a:ln w="12700">
            <a:solidFill>
              <a:srgbClr val="ECE1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23544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Capacitación y entrega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35440" y="4114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Mostrarte cómo usar el panel admin. Documentación completa para vos y tu equipo.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35440" y="56235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5E7DD"/>
          </a:solidFill>
          <a:ln/>
        </p:spPr>
      </p:sp>
      <p:sp>
        <p:nvSpPr>
          <p:cNvPr id="27" name="Text 25"/>
          <p:cNvSpPr/>
          <p:nvPr/>
        </p:nvSpPr>
        <p:spPr>
          <a:xfrm>
            <a:off x="9235440" y="5623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 días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C97B5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3D5B3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manos en </a:t>
            </a:r>
            <a:pPr indent="0" marL="0">
              <a:buNone/>
            </a:pPr>
            <a:r>
              <a:rPr lang="en-US" sz="3600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aproximadamente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semanas.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conectado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3017520"/>
            <a:ext cx="6858000" cy="320040"/>
          </a:xfrm>
          <a:prstGeom prst="roundRect">
            <a:avLst>
              <a:gd name="adj" fmla="val 51429"/>
            </a:avLst>
          </a:prstGeom>
          <a:solidFill>
            <a:srgbClr val="3D5B3C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2971800"/>
            <a:ext cx="2743200" cy="411480"/>
          </a:xfrm>
          <a:prstGeom prst="roundRect">
            <a:avLst>
              <a:gd name="adj" fmla="val 48889"/>
            </a:avLst>
          </a:prstGeom>
          <a:solidFill>
            <a:srgbClr val="3D5B3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393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ajustes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3730752"/>
            <a:ext cx="6858000" cy="320040"/>
          </a:xfrm>
          <a:prstGeom prst="roundRect">
            <a:avLst>
              <a:gd name="adj" fmla="val 51429"/>
            </a:avLst>
          </a:prstGeom>
          <a:solidFill>
            <a:srgbClr val="3D5B3C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0" y="3685032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C6D7C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525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y monitoreo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4443984"/>
            <a:ext cx="6858000" cy="320040"/>
          </a:xfrm>
          <a:prstGeom prst="roundRect">
            <a:avLst>
              <a:gd name="adj" fmla="val 51429"/>
            </a:avLst>
          </a:prstGeom>
          <a:solidFill>
            <a:srgbClr val="3D5B3C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4398264"/>
            <a:ext cx="1714500" cy="411480"/>
          </a:xfrm>
          <a:prstGeom prst="roundRect">
            <a:avLst>
              <a:gd name="adj" fmla="val 48889"/>
            </a:avLst>
          </a:prstGeom>
          <a:solidFill>
            <a:srgbClr val="C97B5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65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+ entrega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5157216"/>
            <a:ext cx="6858000" cy="320040"/>
          </a:xfrm>
          <a:prstGeom prst="roundRect">
            <a:avLst>
              <a:gd name="adj" fmla="val 51429"/>
            </a:avLst>
          </a:prstGeom>
          <a:solidFill>
            <a:srgbClr val="3D5B3C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126980" y="5111496"/>
            <a:ext cx="1028700" cy="411480"/>
          </a:xfrm>
          <a:prstGeom prst="roundRect">
            <a:avLst>
              <a:gd name="adj" fmla="val 48889"/>
            </a:avLst>
          </a:prstGeom>
          <a:solidFill>
            <a:srgbClr val="F5E7DD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5943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5943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5943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5943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18320" y="5943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5943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Y BENEFICIO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</a:t>
            </a:r>
            <a:pPr indent="0" marL="0">
              <a:buNone/>
            </a:pPr>
            <a:r>
              <a:rPr lang="en-US" sz="3600" i="1" dirty="0">
                <a:solidFill>
                  <a:srgbClr val="B2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invertís</a:t>
            </a:r>
            <a:pPr indent="0" marL="0">
              <a:buNone/>
            </a:pPr>
            <a:r>
              <a:rPr lang="en-US" sz="36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lo que </a:t>
            </a:r>
            <a:pPr indent="0" marL="0">
              <a:buNone/>
            </a:pPr>
            <a:r>
              <a:rPr lang="en-US" sz="3600" i="1" dirty="0">
                <a:solidFill>
                  <a:srgbClr val="3D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recuperás.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394960" cy="3749040"/>
          </a:xfrm>
          <a:prstGeom prst="roundRect">
            <a:avLst>
              <a:gd name="adj" fmla="val 6098"/>
            </a:avLst>
          </a:prstGeom>
          <a:solidFill>
            <a:srgbClr val="F5E7D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2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ESTIMADA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Pago único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25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$ 1.200.000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Desarrollo completo del sistema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Dominio y hosting durante el primer año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Capacitación personalizada de 2 horas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por 3 meses post-entrega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Documentación técnica y de usuario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5394960" cy="3749040"/>
          </a:xfrm>
          <a:prstGeom prst="roundRect">
            <a:avLst>
              <a:gd name="adj" fmla="val 6098"/>
            </a:avLst>
          </a:prstGeom>
          <a:solidFill>
            <a:srgbClr val="3D5B3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ESPERADO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Recuperás en 2 reservas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86968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reservas estimadas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año (vs. proceso manual)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86968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duplicadas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(versus el caos actual)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4892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×10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869680" y="4892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gestionando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repetitivas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5715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Valores estimativos. Plan a confirmar en reunión técnica final.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</a:t>
            </a:r>
            <a:pPr algn="l" indent="0" marL="0">
              <a:buNone/>
            </a:pPr>
            <a:r>
              <a:rPr lang="en-US" sz="900" spc="100" kern="0" dirty="0">
                <a:solidFill>
                  <a:srgbClr val="6A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Proyecto Integrador IFTS N°29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3D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9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C97B5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3D5B3C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1371600"/>
            <a:ext cx="2743200" cy="2743200"/>
          </a:xfrm>
          <a:prstGeom prst="ellipse">
            <a:avLst/>
          </a:prstGeom>
          <a:solidFill>
            <a:srgbClr val="C97B5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¿Empezamos?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 por confiar en el proyecto.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25400">
            <a:solidFill>
              <a:srgbClr val="C97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KALAS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Kalas Software · Desarrollo a medida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REUNIÓN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técnica final · cierre de alcance y firma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7607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D5B3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760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33272" y="5733288"/>
            <a:ext cx="146304" cy="14630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5760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Brisas de Calamuchita  ·  Proyecto Integrador IFTS N°29  ·  Mayo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Kalas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Brisas de Calamuchita — Presentación de Avance</dc:title>
  <dc:subject>Etapa 3: Evento No Programado</dc:subject>
  <dc:creator>Jorge Kalas</dc:creator>
  <cp:lastModifiedBy>Jorge Kalas</cp:lastModifiedBy>
  <cp:revision>1</cp:revision>
  <dcterms:created xsi:type="dcterms:W3CDTF">2026-05-16T21:56:44Z</dcterms:created>
  <dcterms:modified xsi:type="dcterms:W3CDTF">2026-05-16T21:56:44Z</dcterms:modified>
</cp:coreProperties>
</file>